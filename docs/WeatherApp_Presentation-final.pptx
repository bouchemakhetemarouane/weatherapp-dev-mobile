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11"/>
    <p:sldId id="268" r:id="rId12"/>
    <p:sldId id="265" r:id="rId13"/>
    <p:sldId id="266" r:id="rId14"/>
    <p:sldId id="267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53447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2163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2430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9D4"/>
          </a:solidFill>
          <a:ln w="12700">
            <a:solidFill>
              <a:srgbClr val="00C9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10972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</a:rPr>
              <a:t>WEATHER</a:t>
            </a:r>
            <a:r>
              <a:rPr lang="en-US" sz="6400" b="1" dirty="0">
                <a:solidFill>
                  <a:srgbClr val="00C9D4"/>
                </a:solidFill>
              </a:rPr>
              <a:t>App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A8C0D6"/>
                </a:solidFill>
              </a:rPr>
              <a:t>Application Météo Mobile Intelligente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00400" y="3063240"/>
            <a:ext cx="2743200" cy="36576"/>
          </a:xfrm>
          <a:prstGeom prst="rect">
            <a:avLst/>
          </a:prstGeom>
          <a:solidFill>
            <a:srgbClr val="00C9D4"/>
          </a:solidFill>
          <a:ln w="12700">
            <a:solidFill>
              <a:srgbClr val="00C9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8C0D6"/>
                </a:solidFill>
              </a:rPr>
              <a:t>Réalisé par : </a:t>
            </a:r>
            <a:r>
              <a:rPr lang="en-US" sz="1300" b="1" dirty="0">
                <a:solidFill>
                  <a:srgbClr val="FFFFFF"/>
                </a:solidFill>
              </a:rPr>
              <a:t>Bouchemakhete Marouane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703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8C0D6"/>
                </a:solidFill>
              </a:rPr>
              <a:t>Encadré par : </a:t>
            </a:r>
            <a:r>
              <a:rPr lang="en-US" sz="1300" b="1" dirty="0">
                <a:solidFill>
                  <a:srgbClr val="FFFFFF"/>
                </a:solidFill>
              </a:rPr>
              <a:t>Mr. BOUSMAH Mohammed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4023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9D4"/>
                </a:solidFill>
              </a:rPr>
              <a:t>Année Universitaire : 2025 – 2026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C9D4"/>
          </a:solidFill>
          <a:ln w="12700">
            <a:solidFill>
              <a:srgbClr val="00C9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2025 / 2026</a:t>
            </a:r>
            <a:endParaRPr lang="en-US" sz="900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70A6AA7A-4C50-4519-A972-5F5AA6F91F5B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775" y="129125"/>
            <a:ext cx="1964266" cy="73558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F8F2280-3711-448E-944E-677AC20EEA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3659" y="1442466"/>
            <a:ext cx="1281352" cy="3083814"/>
          </a:xfrm>
          <a:prstGeom prst="rect">
            <a:avLst/>
          </a:prstGeom>
        </p:spPr>
      </p:pic>
      <p:pic>
        <p:nvPicPr>
          <p:cNvPr id="15" name="Image 0" descr="preencoded.png">
            <a:extLst>
              <a:ext uri="{FF2B5EF4-FFF2-40B4-BE49-F238E27FC236}">
                <a16:creationId xmlns:a16="http://schemas.microsoft.com/office/drawing/2014/main" id="{DAD97299-C360-4601-9D36-6F37FE4B30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19" y="4182779"/>
            <a:ext cx="596482" cy="65612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9D4"/>
          </a:solidFill>
          <a:ln w="12700">
            <a:solidFill>
              <a:srgbClr val="00C9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Plan de la Présentation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57200" cy="384048"/>
          </a:xfrm>
          <a:prstGeom prst="rect">
            <a:avLst/>
          </a:prstGeom>
          <a:solidFill>
            <a:srgbClr val="00C9D4"/>
          </a:solidFill>
          <a:ln w="12700">
            <a:solidFill>
              <a:srgbClr val="00C9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102412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Introduction &amp; Contexte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627632"/>
            <a:ext cx="457200" cy="384048"/>
          </a:xfrm>
          <a:prstGeom prst="rect">
            <a:avLst/>
          </a:prstGeom>
          <a:solidFill>
            <a:srgbClr val="00C9D4"/>
          </a:solidFill>
          <a:ln w="12700">
            <a:solidFill>
              <a:srgbClr val="00C9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27632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164592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Fonctionnalités Principales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249424"/>
            <a:ext cx="457200" cy="384048"/>
          </a:xfrm>
          <a:prstGeom prst="rect">
            <a:avLst/>
          </a:prstGeom>
          <a:solidFill>
            <a:srgbClr val="00C9D4"/>
          </a:solidFill>
          <a:ln w="12700">
            <a:solidFill>
              <a:srgbClr val="00C9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249424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226771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Météo en Temps Réel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871216"/>
            <a:ext cx="457200" cy="384048"/>
          </a:xfrm>
          <a:prstGeom prst="rect">
            <a:avLst/>
          </a:prstGeom>
          <a:solidFill>
            <a:srgbClr val="00C9D4"/>
          </a:solidFill>
          <a:ln w="12700">
            <a:solidFill>
              <a:srgbClr val="00C9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871216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288950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Carte Interactive (LibreMap)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493008"/>
            <a:ext cx="457200" cy="384048"/>
          </a:xfrm>
          <a:prstGeom prst="rect">
            <a:avLst/>
          </a:prstGeom>
          <a:solidFill>
            <a:srgbClr val="00C9D4"/>
          </a:solidFill>
          <a:ln w="12700">
            <a:solidFill>
              <a:srgbClr val="00C9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493008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351129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Chatbot IA par Ville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4114800"/>
            <a:ext cx="457200" cy="384048"/>
          </a:xfrm>
          <a:prstGeom prst="rect">
            <a:avLst/>
          </a:prstGeom>
          <a:solidFill>
            <a:srgbClr val="00C9D4"/>
          </a:solidFill>
          <a:ln w="12700">
            <a:solidFill>
              <a:srgbClr val="00C9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11480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413308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Assistant Vestimentaire &amp; Culinaire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54880" y="1005840"/>
            <a:ext cx="457200" cy="384048"/>
          </a:xfrm>
          <a:prstGeom prst="rect">
            <a:avLst/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100584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49240" y="102412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Architecture Technique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54880" y="1627632"/>
            <a:ext cx="457200" cy="384048"/>
          </a:xfrm>
          <a:prstGeom prst="rect">
            <a:avLst/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1627632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08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49240" y="164592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Démonstration &amp; Captures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754880" y="2249424"/>
            <a:ext cx="457200" cy="384048"/>
          </a:xfrm>
          <a:prstGeom prst="rect">
            <a:avLst/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2249424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09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349240" y="226771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Technologies Utilisées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754880" y="2871216"/>
            <a:ext cx="457200" cy="384048"/>
          </a:xfrm>
          <a:prstGeom prst="rect">
            <a:avLst/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2871216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10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49240" y="288950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Défis &amp; Solutions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754880" y="3493008"/>
            <a:ext cx="457200" cy="384048"/>
          </a:xfrm>
          <a:prstGeom prst="rect">
            <a:avLst/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3493008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11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349240" y="351129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Perspectives &amp; Évolutions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754880" y="4114800"/>
            <a:ext cx="457200" cy="384048"/>
          </a:xfrm>
          <a:prstGeom prst="rect">
            <a:avLst/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411480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12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349240" y="413308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Conclusion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8C0D6"/>
                </a:solidFill>
              </a:rPr>
              <a:t>WeatherApp — EMSI 2025/2026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9D4"/>
          </a:solidFill>
          <a:ln w="12700">
            <a:solidFill>
              <a:srgbClr val="00C9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Introduction &amp; Contexte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9D4"/>
                </a:solidFill>
              </a:rPr>
              <a:t>Pourquoi cette application 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5486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A8C0D6"/>
                </a:solidFill>
              </a:rPr>
              <a:t>La météo impacte nos décisions quotidiennes : tenue, alimentation, transport.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A8C0D6"/>
                </a:solidFill>
              </a:rPr>
              <a:t>Les apps existantes manquent d'intelligence contextuelle et de personnalisation.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A8C0D6"/>
                </a:solidFill>
              </a:rPr>
              <a:t>WeatherApp combine données météo temps réel, IA conversationnelle et recommandations personnalisées.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A8C0D6"/>
                </a:solidFill>
              </a:rPr>
              <a:t>Projet réalisé dans le cadre du cursus ingénierie à l'EMSI, 2025–2026.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675120" y="822960"/>
            <a:ext cx="2011680" cy="1097280"/>
          </a:xfrm>
          <a:prstGeom prst="rect">
            <a:avLst/>
          </a:prstGeom>
          <a:solidFill>
            <a:srgbClr val="112236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0" y="8229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🌍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675120" y="12344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C9D4"/>
                </a:solidFill>
              </a:rPr>
              <a:t>200+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675120" y="16002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C0D6"/>
                </a:solidFill>
              </a:rPr>
              <a:t>Villes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75120" y="2103120"/>
            <a:ext cx="2011680" cy="1097280"/>
          </a:xfrm>
          <a:prstGeom prst="rect">
            <a:avLst/>
          </a:prstGeom>
          <a:solidFill>
            <a:srgbClr val="112236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0" y="21031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675120" y="25146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C9D4"/>
                </a:solidFill>
              </a:rPr>
              <a:t>Temps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675120" y="28803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C0D6"/>
                </a:solidFill>
              </a:rPr>
              <a:t>Réel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75120" y="3383280"/>
            <a:ext cx="2011680" cy="1097280"/>
          </a:xfrm>
          <a:prstGeom prst="rect">
            <a:avLst/>
          </a:prstGeom>
          <a:solidFill>
            <a:srgbClr val="112236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33832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675120" y="37947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C9D4"/>
                </a:solidFill>
              </a:rPr>
              <a:t>IA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675120" y="41605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C0D6"/>
                </a:solidFill>
              </a:rPr>
              <a:t>Intégrée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8C0D6"/>
                </a:solidFill>
              </a:rPr>
              <a:t>WeatherApp — EMSI 2025/2026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9D4"/>
          </a:solidFill>
          <a:ln w="12700">
            <a:solidFill>
              <a:srgbClr val="00C9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Fonctionnalités Principales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43200" cy="1691640"/>
          </a:xfrm>
          <a:prstGeom prst="rect">
            <a:avLst/>
          </a:prstGeom>
          <a:solidFill>
            <a:srgbClr val="112236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2743200" cy="54864"/>
          </a:xfrm>
          <a:prstGeom prst="rect">
            <a:avLst/>
          </a:prstGeom>
          <a:solidFill>
            <a:srgbClr val="00C9D4"/>
          </a:solidFill>
          <a:ln w="12700">
            <a:solidFill>
              <a:srgbClr val="00C9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515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🌤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65760" y="15544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Météo Temps Réel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8745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C0D6"/>
                </a:solidFill>
              </a:rPr>
              <a:t>Température, humidité, vent, pression pour chaque ville avec données actualisées.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743200" cy="1691640"/>
          </a:xfrm>
          <a:prstGeom prst="rect">
            <a:avLst/>
          </a:prstGeom>
          <a:solidFill>
            <a:srgbClr val="112236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1005840"/>
            <a:ext cx="2743200" cy="54864"/>
          </a:xfrm>
          <a:prstGeom prst="rect">
            <a:avLst/>
          </a:prstGeom>
          <a:solidFill>
            <a:srgbClr val="00C9D4"/>
          </a:solidFill>
          <a:ln w="12700">
            <a:solidFill>
              <a:srgbClr val="00C9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0515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🗺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291840" y="15544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Carte Interactive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91840" y="18745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C0D6"/>
                </a:solidFill>
              </a:rPr>
              <a:t>Intégration LibreMap pour visualiser la météo géographiquement avec marqueurs.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005840"/>
            <a:ext cx="2743200" cy="1691640"/>
          </a:xfrm>
          <a:prstGeom prst="rect">
            <a:avLst/>
          </a:prstGeom>
          <a:solidFill>
            <a:srgbClr val="112236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1005840"/>
            <a:ext cx="2743200" cy="54864"/>
          </a:xfrm>
          <a:prstGeom prst="rect">
            <a:avLst/>
          </a:prstGeom>
          <a:solidFill>
            <a:srgbClr val="00C9D4"/>
          </a:solidFill>
          <a:ln w="12700">
            <a:solidFill>
              <a:srgbClr val="00C9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0515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💬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217920" y="15544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Chatbot IA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17920" y="18745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C0D6"/>
                </a:solidFill>
              </a:rPr>
              <a:t>Dialogue intelligent sur les conditions météo d'une ville cible.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926080"/>
            <a:ext cx="2743200" cy="1691640"/>
          </a:xfrm>
          <a:prstGeom prst="rect">
            <a:avLst/>
          </a:prstGeom>
          <a:solidFill>
            <a:srgbClr val="112236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2926080"/>
            <a:ext cx="2743200" cy="54864"/>
          </a:xfrm>
          <a:prstGeom prst="rect">
            <a:avLst/>
          </a:prstGeom>
          <a:solidFill>
            <a:srgbClr val="00C9D4"/>
          </a:solidFill>
          <a:ln w="12700">
            <a:solidFill>
              <a:srgbClr val="00C9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9718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👕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365760" y="34747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Conseils Vestimentaires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" y="37947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C0D6"/>
                </a:solidFill>
              </a:rPr>
              <a:t>L'IA recommande la tenue adaptée selon température et conditions.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0" y="2926080"/>
            <a:ext cx="2743200" cy="1691640"/>
          </a:xfrm>
          <a:prstGeom prst="rect">
            <a:avLst/>
          </a:prstGeom>
          <a:solidFill>
            <a:srgbClr val="112236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2926080"/>
            <a:ext cx="2743200" cy="54864"/>
          </a:xfrm>
          <a:prstGeom prst="rect">
            <a:avLst/>
          </a:prstGeom>
          <a:solidFill>
            <a:srgbClr val="00C9D4"/>
          </a:solidFill>
          <a:ln w="12700">
            <a:solidFill>
              <a:srgbClr val="00C9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0" y="29718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🍲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3291840" y="34747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Suggestions Culinaires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291840" y="37947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C0D6"/>
                </a:solidFill>
              </a:rPr>
              <a:t>Recommandations de repas adaptés au temps qu'il fait.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26480" y="2926080"/>
            <a:ext cx="2743200" cy="1691640"/>
          </a:xfrm>
          <a:prstGeom prst="rect">
            <a:avLst/>
          </a:prstGeom>
          <a:solidFill>
            <a:srgbClr val="112236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26480" y="2926080"/>
            <a:ext cx="2743200" cy="54864"/>
          </a:xfrm>
          <a:prstGeom prst="rect">
            <a:avLst/>
          </a:prstGeom>
          <a:solidFill>
            <a:srgbClr val="00C9D4"/>
          </a:solidFill>
          <a:ln w="12700">
            <a:solidFill>
              <a:srgbClr val="00C9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26480" y="29718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🔔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6217920" y="34747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Alertes Météo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217920" y="37947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C0D6"/>
                </a:solidFill>
              </a:rPr>
              <a:t>Notifications d'événements météorologiques importants.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8C0D6"/>
                </a:solidFill>
              </a:rPr>
              <a:t>WeatherApp — EMSI 2025/2026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9D4"/>
          </a:solidFill>
          <a:ln w="12700">
            <a:solidFill>
              <a:srgbClr val="00C9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Météo en Temps Réel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C9D4"/>
                </a:solidFill>
              </a:rPr>
              <a:t>Données météo complètes par ville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50292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A8C0D6"/>
                </a:solidFill>
              </a:rPr>
              <a:t>Température actuelle, ressentie, min/max journalière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A8C0D6"/>
                </a:solidFill>
              </a:rPr>
              <a:t>Humidité, point de rosée, pression atmosphérique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A8C0D6"/>
                </a:solidFill>
              </a:rPr>
              <a:t>Vitesse et direction du vent, rafales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A8C0D6"/>
                </a:solidFill>
              </a:rPr>
              <a:t>Visibilité, indice UV, couverture nuageuse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A8C0D6"/>
                </a:solidFill>
              </a:rPr>
              <a:t>Prévisions sur 7 jours et par heure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A8C0D6"/>
                </a:solidFill>
              </a:rPr>
              <a:t>Données issues d'APIs météo fiables (OpenWeatherMap)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035040" y="777240"/>
            <a:ext cx="2743200" cy="4114800"/>
          </a:xfrm>
          <a:prstGeom prst="roundRect">
            <a:avLst>
              <a:gd name="adj" fmla="val 6667"/>
            </a:avLst>
          </a:prstGeom>
          <a:solidFill>
            <a:srgbClr val="0D1F35"/>
          </a:solidFill>
          <a:ln w="25400">
            <a:solidFill>
              <a:srgbClr val="1A6F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0" y="9144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Casablanca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126480" y="128016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0C9D4"/>
                </a:solidFill>
              </a:rPr>
              <a:t>22°C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6126480" y="2057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C0D6"/>
                </a:solidFill>
              </a:rPr>
              <a:t>☁ Partiellement nuageux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2514600"/>
            <a:ext cx="1234440" cy="548640"/>
          </a:xfrm>
          <a:prstGeom prst="rect">
            <a:avLst/>
          </a:prstGeom>
          <a:solidFill>
            <a:srgbClr val="112540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2532888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💧 65%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126480" y="2788920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8C0D6"/>
                </a:solidFill>
              </a:rPr>
              <a:t>Humidité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7452360" y="2514600"/>
            <a:ext cx="1234440" cy="548640"/>
          </a:xfrm>
          <a:prstGeom prst="rect">
            <a:avLst/>
          </a:prstGeom>
          <a:solidFill>
            <a:srgbClr val="112540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52360" y="2532888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💨 18 km/h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452360" y="2788920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8C0D6"/>
                </a:solidFill>
              </a:rPr>
              <a:t>Vent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126480" y="3200400"/>
            <a:ext cx="1234440" cy="548640"/>
          </a:xfrm>
          <a:prstGeom prst="rect">
            <a:avLst/>
          </a:prstGeom>
          <a:solidFill>
            <a:srgbClr val="112540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3218688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☀ UV 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26480" y="3474720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8C0D6"/>
                </a:solidFill>
              </a:rPr>
              <a:t>Indice UV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452360" y="3200400"/>
            <a:ext cx="1234440" cy="548640"/>
          </a:xfrm>
          <a:prstGeom prst="rect">
            <a:avLst/>
          </a:prstGeom>
          <a:solidFill>
            <a:srgbClr val="112540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52360" y="3218688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👁 10 km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452360" y="3474720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8C0D6"/>
                </a:solidFill>
              </a:rPr>
              <a:t>Visibilité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8C0D6"/>
                </a:solidFill>
              </a:rPr>
              <a:t>WeatherApp — EMSI 2025/2026</a:t>
            </a:r>
            <a:endParaRPr lang="en-US" sz="8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543FC0B1-5738-4354-B57B-5CEEA27050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0214" y="717168"/>
            <a:ext cx="2926079" cy="424345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9D4"/>
          </a:solidFill>
          <a:ln w="12700">
            <a:solidFill>
              <a:srgbClr val="00C9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Carte Interactive — LibreMap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5029200" cy="3749040"/>
          </a:xfrm>
          <a:prstGeom prst="rect">
            <a:avLst/>
          </a:prstGeom>
          <a:solidFill>
            <a:srgbClr val="0F2540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C9D4"/>
                </a:solidFill>
              </a:rPr>
              <a:t>🗺  Carte Libre Interactive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1005840" cy="777240"/>
          </a:xfrm>
          <a:prstGeom prst="rect">
            <a:avLst/>
          </a:prstGeom>
          <a:solidFill>
            <a:srgbClr val="0D2137"/>
          </a:solidFill>
          <a:ln w="6350">
            <a:solidFill>
              <a:srgbClr val="0A162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1371600"/>
            <a:ext cx="1005840" cy="777240"/>
          </a:xfrm>
          <a:prstGeom prst="rect">
            <a:avLst/>
          </a:prstGeom>
          <a:solidFill>
            <a:srgbClr val="112030"/>
          </a:solidFill>
          <a:ln w="6350">
            <a:solidFill>
              <a:srgbClr val="0A16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77440" y="1371600"/>
            <a:ext cx="1005840" cy="777240"/>
          </a:xfrm>
          <a:prstGeom prst="rect">
            <a:avLst/>
          </a:prstGeom>
          <a:solidFill>
            <a:srgbClr val="0D2137"/>
          </a:solidFill>
          <a:ln w="6350">
            <a:solidFill>
              <a:srgbClr val="0A162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83280" y="1371600"/>
            <a:ext cx="1005840" cy="777240"/>
          </a:xfrm>
          <a:prstGeom prst="rect">
            <a:avLst/>
          </a:prstGeom>
          <a:solidFill>
            <a:srgbClr val="112030"/>
          </a:solidFill>
          <a:ln w="6350">
            <a:solidFill>
              <a:srgbClr val="0A16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1371600"/>
            <a:ext cx="1005840" cy="777240"/>
          </a:xfrm>
          <a:prstGeom prst="rect">
            <a:avLst/>
          </a:prstGeom>
          <a:solidFill>
            <a:srgbClr val="0D2137"/>
          </a:solidFill>
          <a:ln w="6350">
            <a:solidFill>
              <a:srgbClr val="0A162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148840"/>
            <a:ext cx="1005840" cy="777240"/>
          </a:xfrm>
          <a:prstGeom prst="rect">
            <a:avLst/>
          </a:prstGeom>
          <a:solidFill>
            <a:srgbClr val="112030"/>
          </a:solidFill>
          <a:ln w="6350">
            <a:solidFill>
              <a:srgbClr val="0A162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71600" y="2148840"/>
            <a:ext cx="1005840" cy="777240"/>
          </a:xfrm>
          <a:prstGeom prst="rect">
            <a:avLst/>
          </a:prstGeom>
          <a:solidFill>
            <a:srgbClr val="0D2137"/>
          </a:solidFill>
          <a:ln w="6350">
            <a:solidFill>
              <a:srgbClr val="0A162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77440" y="2148840"/>
            <a:ext cx="1005840" cy="777240"/>
          </a:xfrm>
          <a:prstGeom prst="rect">
            <a:avLst/>
          </a:prstGeom>
          <a:solidFill>
            <a:srgbClr val="112030"/>
          </a:solidFill>
          <a:ln w="6350">
            <a:solidFill>
              <a:srgbClr val="0A162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83280" y="2148840"/>
            <a:ext cx="1005840" cy="777240"/>
          </a:xfrm>
          <a:prstGeom prst="rect">
            <a:avLst/>
          </a:prstGeom>
          <a:solidFill>
            <a:srgbClr val="0D2137"/>
          </a:solidFill>
          <a:ln w="6350">
            <a:solidFill>
              <a:srgbClr val="0A162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9120" y="2148840"/>
            <a:ext cx="1005840" cy="777240"/>
          </a:xfrm>
          <a:prstGeom prst="rect">
            <a:avLst/>
          </a:prstGeom>
          <a:solidFill>
            <a:srgbClr val="112030"/>
          </a:solidFill>
          <a:ln w="6350">
            <a:solidFill>
              <a:srgbClr val="0A162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926080"/>
            <a:ext cx="1005840" cy="777240"/>
          </a:xfrm>
          <a:prstGeom prst="rect">
            <a:avLst/>
          </a:prstGeom>
          <a:solidFill>
            <a:srgbClr val="0D2137"/>
          </a:solidFill>
          <a:ln w="6350">
            <a:solidFill>
              <a:srgbClr val="0A162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71600" y="2926080"/>
            <a:ext cx="1005840" cy="777240"/>
          </a:xfrm>
          <a:prstGeom prst="rect">
            <a:avLst/>
          </a:prstGeom>
          <a:solidFill>
            <a:srgbClr val="112030"/>
          </a:solidFill>
          <a:ln w="6350">
            <a:solidFill>
              <a:srgbClr val="0A162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77440" y="2926080"/>
            <a:ext cx="1005840" cy="777240"/>
          </a:xfrm>
          <a:prstGeom prst="rect">
            <a:avLst/>
          </a:prstGeom>
          <a:solidFill>
            <a:srgbClr val="0D2137"/>
          </a:solidFill>
          <a:ln w="6350">
            <a:solidFill>
              <a:srgbClr val="0A162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83280" y="2926080"/>
            <a:ext cx="1005840" cy="777240"/>
          </a:xfrm>
          <a:prstGeom prst="rect">
            <a:avLst/>
          </a:prstGeom>
          <a:solidFill>
            <a:srgbClr val="112030"/>
          </a:solidFill>
          <a:ln w="6350">
            <a:solidFill>
              <a:srgbClr val="0A162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89120" y="2926080"/>
            <a:ext cx="1005840" cy="777240"/>
          </a:xfrm>
          <a:prstGeom prst="rect">
            <a:avLst/>
          </a:prstGeom>
          <a:solidFill>
            <a:srgbClr val="0D2137"/>
          </a:solidFill>
          <a:ln w="6350">
            <a:solidFill>
              <a:srgbClr val="0A162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703320"/>
            <a:ext cx="1005840" cy="777240"/>
          </a:xfrm>
          <a:prstGeom prst="rect">
            <a:avLst/>
          </a:prstGeom>
          <a:solidFill>
            <a:srgbClr val="112030"/>
          </a:solidFill>
          <a:ln w="6350">
            <a:solidFill>
              <a:srgbClr val="0A162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371600" y="3703320"/>
            <a:ext cx="1005840" cy="777240"/>
          </a:xfrm>
          <a:prstGeom prst="rect">
            <a:avLst/>
          </a:prstGeom>
          <a:solidFill>
            <a:srgbClr val="0D2137"/>
          </a:solidFill>
          <a:ln w="6350">
            <a:solidFill>
              <a:srgbClr val="0A162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377440" y="3703320"/>
            <a:ext cx="1005840" cy="777240"/>
          </a:xfrm>
          <a:prstGeom prst="rect">
            <a:avLst/>
          </a:prstGeom>
          <a:solidFill>
            <a:srgbClr val="112030"/>
          </a:solidFill>
          <a:ln w="6350">
            <a:solidFill>
              <a:srgbClr val="0A162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83280" y="3703320"/>
            <a:ext cx="1005840" cy="777240"/>
          </a:xfrm>
          <a:prstGeom prst="rect">
            <a:avLst/>
          </a:prstGeom>
          <a:solidFill>
            <a:srgbClr val="0D2137"/>
          </a:solidFill>
          <a:ln w="6350">
            <a:solidFill>
              <a:srgbClr val="0A162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89120" y="3703320"/>
            <a:ext cx="1005840" cy="777240"/>
          </a:xfrm>
          <a:prstGeom prst="rect">
            <a:avLst/>
          </a:prstGeom>
          <a:solidFill>
            <a:srgbClr val="112030"/>
          </a:solidFill>
          <a:ln w="6350">
            <a:solidFill>
              <a:srgbClr val="0A162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97280" y="17373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🔵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743200" y="2377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🔴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114800" y="31089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🟢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31520" y="1920240"/>
            <a:ext cx="1645920" cy="27432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Casablanca  22°C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669280" y="914400"/>
            <a:ext cx="3200400" cy="804672"/>
          </a:xfrm>
          <a:prstGeom prst="rect">
            <a:avLst/>
          </a:prstGeom>
          <a:solidFill>
            <a:srgbClr val="112236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669280" y="914400"/>
            <a:ext cx="54864" cy="804672"/>
          </a:xfrm>
          <a:prstGeom prst="rect">
            <a:avLst/>
          </a:prstGeom>
          <a:solidFill>
            <a:srgbClr val="00C9D4"/>
          </a:solidFill>
          <a:ln w="12700">
            <a:solidFill>
              <a:srgbClr val="00C9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06440" y="93268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📍 Marqueurs météo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806440" y="12344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0D6"/>
                </a:solidFill>
              </a:rPr>
              <a:t>Chaque ville affiche temp &amp; conditions directement sur la carte.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669280" y="1828800"/>
            <a:ext cx="3200400" cy="804672"/>
          </a:xfrm>
          <a:prstGeom prst="rect">
            <a:avLst/>
          </a:prstGeom>
          <a:solidFill>
            <a:srgbClr val="112236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669280" y="1828800"/>
            <a:ext cx="54864" cy="804672"/>
          </a:xfrm>
          <a:prstGeom prst="rect">
            <a:avLst/>
          </a:prstGeom>
          <a:solidFill>
            <a:srgbClr val="00C9D4"/>
          </a:solidFill>
          <a:ln w="12700">
            <a:solidFill>
              <a:srgbClr val="00C9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06440" y="184708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🔍 Zoom &amp; Navigation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806440" y="21488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0D6"/>
                </a:solidFill>
              </a:rPr>
              <a:t>Exploration intuitive, pan/zoom, géolocalisation utilisateur.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669280" y="2743200"/>
            <a:ext cx="3200400" cy="804672"/>
          </a:xfrm>
          <a:prstGeom prst="rect">
            <a:avLst/>
          </a:prstGeom>
          <a:solidFill>
            <a:srgbClr val="112236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669280" y="2743200"/>
            <a:ext cx="54864" cy="804672"/>
          </a:xfrm>
          <a:prstGeom prst="rect">
            <a:avLst/>
          </a:prstGeom>
          <a:solidFill>
            <a:srgbClr val="00C9D4"/>
          </a:solidFill>
          <a:ln w="12700">
            <a:solidFill>
              <a:srgbClr val="00C9D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06440" y="276148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🌡 Couches météo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806440" y="30632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0D6"/>
                </a:solidFill>
              </a:rPr>
              <a:t>Activation de couches : pluie, nuages, vent en overlay.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669280" y="3657600"/>
            <a:ext cx="3200400" cy="804672"/>
          </a:xfrm>
          <a:prstGeom prst="rect">
            <a:avLst/>
          </a:prstGeom>
          <a:solidFill>
            <a:srgbClr val="112236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669280" y="3657600"/>
            <a:ext cx="54864" cy="804672"/>
          </a:xfrm>
          <a:prstGeom prst="rect">
            <a:avLst/>
          </a:prstGeom>
          <a:solidFill>
            <a:srgbClr val="00C9D4"/>
          </a:solidFill>
          <a:ln w="12700">
            <a:solidFill>
              <a:srgbClr val="00C9D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806440" y="367588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⭐ Favoris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806440" y="39776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0D6"/>
                </a:solidFill>
              </a:rPr>
              <a:t>Sauvegarde de villes favorites directement depuis la carte.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8C0D6"/>
                </a:solidFill>
              </a:rPr>
              <a:t>WeatherApp — EMSI 2025/2026</a:t>
            </a:r>
            <a:endParaRPr lang="en-US" sz="800" dirty="0"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A06C3546-03D7-4478-A71B-BC116C7BB0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109" y="900684"/>
            <a:ext cx="5067851" cy="37627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9D4"/>
          </a:solidFill>
          <a:ln w="12700">
            <a:solidFill>
              <a:srgbClr val="00C9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Chatbot IA par Ville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C9D4"/>
                </a:solidFill>
              </a:rPr>
              <a:t>Dialogue intelligent sur la météo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1371600"/>
            <a:ext cx="4754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A8C0D6"/>
                </a:solidFill>
              </a:rPr>
              <a:t>Questions en langage naturel : "Fait-il froid à Tokyo ?"</a:t>
            </a:r>
            <a:endParaRPr lang="en-US" sz="1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A8C0D6"/>
                </a:solidFill>
              </a:rPr>
              <a:t>Réponses contextualisées avec données météo actuelles</a:t>
            </a:r>
            <a:endParaRPr lang="en-US" sz="1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A8C0D6"/>
                </a:solidFill>
              </a:rPr>
              <a:t>Conseils personnalisés selon les préférences utilisateur</a:t>
            </a:r>
            <a:endParaRPr lang="en-US" sz="1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A8C0D6"/>
                </a:solidFill>
              </a:rPr>
              <a:t>Historique de conversation conservé par session</a:t>
            </a:r>
            <a:endParaRPr lang="en-US" sz="1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A8C0D6"/>
                </a:solidFill>
              </a:rPr>
              <a:t>Support multilingue (Français, Anglais, Arabe)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394960" y="822960"/>
            <a:ext cx="3474720" cy="3931920"/>
          </a:xfrm>
          <a:prstGeom prst="rect">
            <a:avLst/>
          </a:prstGeom>
          <a:solidFill>
            <a:srgbClr val="081420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94960" y="822960"/>
            <a:ext cx="3474720" cy="411480"/>
          </a:xfrm>
          <a:prstGeom prst="rect">
            <a:avLst/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94960" y="8229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💬 WeatherBot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583680" y="1371600"/>
            <a:ext cx="2103120" cy="347472"/>
          </a:xfrm>
          <a:prstGeom prst="roundRect">
            <a:avLst>
              <a:gd name="adj" fmla="val 21053"/>
            </a:avLst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56832" y="1408176"/>
            <a:ext cx="1956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Quel temps fait-il à Paris ?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0" y="192024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112236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59552" y="1956816"/>
            <a:ext cx="1956816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À Paris, il fait actuellement 14°C, ciel nuageux. Pluie légère prévue cet après-midi.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583680" y="2606040"/>
            <a:ext cx="2103120" cy="347472"/>
          </a:xfrm>
          <a:prstGeom prst="roundRect">
            <a:avLst>
              <a:gd name="adj" fmla="val 21053"/>
            </a:avLst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56832" y="2642616"/>
            <a:ext cx="1956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Dois-je prendre un manteau ?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0" y="310896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112236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59552" y="3145536"/>
            <a:ext cx="1956816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Oui ! Avec 14°C et pluie, un manteau imperméable est conseillé.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394960" y="4389120"/>
            <a:ext cx="3474720" cy="347472"/>
          </a:xfrm>
          <a:prstGeom prst="rect">
            <a:avLst/>
          </a:prstGeom>
          <a:solidFill>
            <a:srgbClr val="112236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0" y="438912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C0D6"/>
                </a:solidFill>
              </a:rPr>
              <a:t>✉  Écrivez votre question...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8C0D6"/>
                </a:solidFill>
              </a:rPr>
              <a:t>WeatherApp — EMSI 2025/2026</a:t>
            </a:r>
            <a:endParaRPr lang="en-US" sz="8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6FE836C-931D-410B-88F9-B740BCD2D9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024" y="806958"/>
            <a:ext cx="3475656" cy="399364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9D4"/>
          </a:solidFill>
          <a:ln w="12700">
            <a:solidFill>
              <a:srgbClr val="00C9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IA — Tenue &amp; Alimentation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3749040"/>
          </a:xfrm>
          <a:prstGeom prst="rect">
            <a:avLst/>
          </a:prstGeom>
          <a:solidFill>
            <a:srgbClr val="112236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4114800" cy="457200"/>
          </a:xfrm>
          <a:prstGeom prst="rect">
            <a:avLst/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👕  Conseils Vestimentaires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D4"/>
                </a:solidFill>
              </a:rPr>
              <a:t>🥶 &lt; 5°C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28800" y="14630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0D6"/>
                </a:solidFill>
              </a:rPr>
              <a:t>Manteau épais, bonnet, écharpe, gants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08483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D4"/>
                </a:solidFill>
              </a:rPr>
              <a:t>🧥 5–15°C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28800" y="208483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0D6"/>
                </a:solidFill>
              </a:rPr>
              <a:t>Veste, pull, pantalon long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706624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D4"/>
                </a:solidFill>
              </a:rPr>
              <a:t>👕 15–25°C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28800" y="2706624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0D6"/>
                </a:solidFill>
              </a:rPr>
              <a:t>T-shirt léger, jean ou pantalon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328416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D4"/>
                </a:solidFill>
              </a:rPr>
              <a:t>☀ &gt; 25°C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3328416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0D6"/>
                </a:solidFill>
              </a:rPr>
              <a:t>Short, t-shirt, lunettes de soleil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95020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D4"/>
                </a:solidFill>
              </a:rPr>
              <a:t>🌧 Pluie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828800" y="395020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0D6"/>
                </a:solidFill>
              </a:rPr>
              <a:t>Imperméable, parapluie, bottes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914400"/>
            <a:ext cx="4114800" cy="3749040"/>
          </a:xfrm>
          <a:prstGeom prst="rect">
            <a:avLst/>
          </a:prstGeom>
          <a:solidFill>
            <a:srgbClr val="112236"/>
          </a:solidFill>
          <a:ln w="12700">
            <a:solidFill>
              <a:srgbClr val="1A50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0" y="914400"/>
            <a:ext cx="4114800" cy="457200"/>
          </a:xfrm>
          <a:prstGeom prst="rect">
            <a:avLst/>
          </a:prstGeom>
          <a:solidFill>
            <a:srgbClr val="0D5E3F"/>
          </a:solidFill>
          <a:ln w="12700">
            <a:solidFill>
              <a:srgbClr val="0D5E3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9144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🍲  Suggestions Culinaires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14630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7A"/>
                </a:solidFill>
              </a:rPr>
              <a:t>🥶 Froid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17920" y="14630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0D6"/>
                </a:solidFill>
              </a:rPr>
              <a:t>Soupe, tajine, thé chaud, plats mijotés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0" y="2084832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7A"/>
                </a:solidFill>
              </a:rPr>
              <a:t>🌬 Frais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17920" y="208483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0D6"/>
                </a:solidFill>
              </a:rPr>
              <a:t>Salade chaude, pâtes, café au lait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37760" y="2706624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7A"/>
                </a:solidFill>
              </a:rPr>
              <a:t>🌤 Agréable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17920" y="2706624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0D6"/>
                </a:solidFill>
              </a:rPr>
              <a:t>Sandwich, smoothie, repas léger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37760" y="3328416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7A"/>
                </a:solidFill>
              </a:rPr>
              <a:t>☀ Chaud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17920" y="3328416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0D6"/>
                </a:solidFill>
              </a:rPr>
              <a:t>Salade fraîche, jus, glaces, fruits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37760" y="395020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7A"/>
                </a:solidFill>
              </a:rPr>
              <a:t>🌧 Pluie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17920" y="395020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0D6"/>
                </a:solidFill>
              </a:rPr>
              <a:t>Chocolat chaud, crêpes, comfort food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8C0D6"/>
                </a:solidFill>
              </a:rPr>
              <a:t>WeatherApp — EMSI 2025/2026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9D4"/>
          </a:solidFill>
          <a:ln w="12700">
            <a:solidFill>
              <a:srgbClr val="00C9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Architecture Technique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777240"/>
          </a:xfrm>
          <a:prstGeom prst="rect">
            <a:avLst/>
          </a:prstGeom>
          <a:solidFill>
            <a:srgbClr val="1A6FD4"/>
          </a:solidFill>
          <a:ln w="12700">
            <a:solidFill>
              <a:srgbClr val="00C9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60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📱  Couche Présentation (UI Mobile)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2984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0D6"/>
                </a:solidFill>
              </a:rPr>
              <a:t>Kotlin/ Java — Composants UI, Écrans, Navigation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434840" y="1691640"/>
            <a:ext cx="274320" cy="182880"/>
          </a:xfrm>
          <a:prstGeom prst="rect">
            <a:avLst/>
          </a:prstGeom>
          <a:solidFill>
            <a:srgbClr val="00C9D4"/>
          </a:solidFill>
          <a:ln w="12700">
            <a:solidFill>
              <a:srgbClr val="00C9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874520"/>
            <a:ext cx="8412480" cy="777240"/>
          </a:xfrm>
          <a:prstGeom prst="rect">
            <a:avLst/>
          </a:prstGeom>
          <a:solidFill>
            <a:srgbClr val="1A5A8A"/>
          </a:solidFill>
          <a:ln w="12700">
            <a:solidFill>
              <a:srgbClr val="00C9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9202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⚙  Couche Logique Métier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2585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0D6"/>
                </a:solidFill>
              </a:rPr>
              <a:t>Services : Météo, IA, Chatbot, Recommandations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34840" y="2651760"/>
            <a:ext cx="274320" cy="182880"/>
          </a:xfrm>
          <a:prstGeom prst="rect">
            <a:avLst/>
          </a:prstGeom>
          <a:solidFill>
            <a:srgbClr val="00C9D4"/>
          </a:solidFill>
          <a:ln w="12700">
            <a:solidFill>
              <a:srgbClr val="00C9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834640"/>
            <a:ext cx="8412480" cy="777240"/>
          </a:xfrm>
          <a:prstGeom prst="rect">
            <a:avLst/>
          </a:prstGeom>
          <a:solidFill>
            <a:srgbClr val="1A4060"/>
          </a:solidFill>
          <a:ln w="12700">
            <a:solidFill>
              <a:srgbClr val="00C9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8803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🗄  Couche Données &amp; APIs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32186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0D6"/>
                </a:solidFill>
              </a:rPr>
              <a:t>OpenWeatherMap API, LibreMap, Modèle LLM, Base de données locale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34840" y="3611880"/>
            <a:ext cx="274320" cy="182880"/>
          </a:xfrm>
          <a:prstGeom prst="rect">
            <a:avLst/>
          </a:prstGeom>
          <a:solidFill>
            <a:srgbClr val="00C9D4"/>
          </a:solidFill>
          <a:ln w="12700">
            <a:solidFill>
              <a:srgbClr val="00C9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794760"/>
            <a:ext cx="8412480" cy="777240"/>
          </a:xfrm>
          <a:prstGeom prst="rect">
            <a:avLst/>
          </a:prstGeom>
          <a:solidFill>
            <a:srgbClr val="112236"/>
          </a:solidFill>
          <a:ln w="12700">
            <a:solidFill>
              <a:srgbClr val="00C9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8404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☁  Couche Infrastructure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4178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0D6"/>
                </a:solidFill>
              </a:rPr>
              <a:t>Serveur backend, Cache Redis, Déploiement Cloud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8C0D6"/>
                </a:solidFill>
              </a:rPr>
              <a:t>WeatherApp — EMSI 2025/2026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9D4"/>
          </a:solidFill>
          <a:ln w="12700">
            <a:solidFill>
              <a:srgbClr val="00C9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2800" b="1" dirty="0">
                <a:solidFill>
                  <a:schemeClr val="bg1"/>
                </a:solidFill>
              </a:rPr>
              <a:t>cas d'utilisation</a:t>
            </a:r>
            <a:r>
              <a:rPr lang="fr-FR" sz="2800" dirty="0">
                <a:solidFill>
                  <a:schemeClr val="bg1"/>
                </a:solidFill>
              </a:rPr>
              <a:t> et </a:t>
            </a:r>
            <a:r>
              <a:rPr lang="fr-FR" sz="2800" b="1" dirty="0">
                <a:solidFill>
                  <a:schemeClr val="bg1"/>
                </a:solidFill>
              </a:rPr>
              <a:t>diagramme de classes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46" name="Shape 4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8C0D6"/>
                </a:solidFill>
              </a:rPr>
              <a:t>WeatherApp — EMSI 2025/2026</a:t>
            </a:r>
            <a:endParaRPr lang="en-US" sz="800" dirty="0"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6952B483-C3A3-4CEE-A85E-3FB6543B79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37" y="767757"/>
            <a:ext cx="3574620" cy="4082289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A6154B6F-692F-4107-A9C8-475B2CBC00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1095" y="754634"/>
            <a:ext cx="3349663" cy="2691553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73A24896-871B-4AD8-8995-541C1B10E0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1094" y="3424428"/>
            <a:ext cx="3349663" cy="1580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4715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9D4"/>
          </a:solidFill>
          <a:ln w="12700">
            <a:solidFill>
              <a:srgbClr val="00C9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Demonstration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8C0D6"/>
                </a:solidFill>
              </a:rPr>
              <a:t>WeatherApp — EMSI 2025/2026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7312898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9D4"/>
          </a:solidFill>
          <a:ln w="12700">
            <a:solidFill>
              <a:srgbClr val="00C9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Technologies Utilisées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057400" cy="1691640"/>
          </a:xfrm>
          <a:prstGeom prst="rect">
            <a:avLst/>
          </a:prstGeom>
          <a:solidFill>
            <a:srgbClr val="1A6FD4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5156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📱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55448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React Native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205740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C0D6"/>
                </a:solidFill>
              </a:rPr>
              <a:t>Frontend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68880" y="960120"/>
            <a:ext cx="2057400" cy="1691640"/>
          </a:xfrm>
          <a:prstGeom prst="rect">
            <a:avLst/>
          </a:prstGeom>
          <a:solidFill>
            <a:srgbClr val="1A6F4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0" y="105156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🌐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560320" y="155448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OpenWeatherMap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60320" y="205740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C0D6"/>
                </a:solidFill>
              </a:rPr>
              <a:t>API Météo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960120"/>
            <a:ext cx="2057400" cy="1691640"/>
          </a:xfrm>
          <a:prstGeom prst="rect">
            <a:avLst/>
          </a:prstGeom>
          <a:solidFill>
            <a:srgbClr val="6A3A8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05156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🗺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754880" y="155448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LibreMap / OpenStreetMap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205740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C0D6"/>
                </a:solidFill>
              </a:rPr>
              <a:t>Cartographie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58000" y="960120"/>
            <a:ext cx="2057400" cy="1691640"/>
          </a:xfrm>
          <a:prstGeom prst="rect">
            <a:avLst/>
          </a:prstGeom>
          <a:solidFill>
            <a:srgbClr val="8A4A10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0" y="105156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949440" y="155448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LLM / GPT API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949440" y="205740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C0D6"/>
                </a:solidFill>
              </a:rPr>
              <a:t>IA &amp; Chatbot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880360"/>
            <a:ext cx="2057400" cy="1691640"/>
          </a:xfrm>
          <a:prstGeom prst="rect">
            <a:avLst/>
          </a:prstGeom>
          <a:solidFill>
            <a:srgbClr val="1A5A8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97180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🗄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365760" y="347472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SQLite / Firebase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39776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C0D6"/>
                </a:solidFill>
              </a:rPr>
              <a:t>Base de données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468880" y="2880360"/>
            <a:ext cx="2057400" cy="1691640"/>
          </a:xfrm>
          <a:prstGeom prst="rect">
            <a:avLst/>
          </a:prstGeom>
          <a:solidFill>
            <a:srgbClr val="2A6A2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68880" y="297180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2560320" y="347472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Node.js / Express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560320" y="39776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C0D6"/>
                </a:solidFill>
              </a:rPr>
              <a:t>Backend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2880360"/>
            <a:ext cx="2057400" cy="1691640"/>
          </a:xfrm>
          <a:prstGeom prst="rect">
            <a:avLst/>
          </a:prstGeom>
          <a:solidFill>
            <a:srgbClr val="3A3A8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297180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☁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4754880" y="347472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Déploiement Cloud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54880" y="39776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C0D6"/>
                </a:solidFill>
              </a:rPr>
              <a:t>Infrastructure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858000" y="2880360"/>
            <a:ext cx="2057400" cy="1691640"/>
          </a:xfrm>
          <a:prstGeom prst="rect">
            <a:avLst/>
          </a:prstGeom>
          <a:solidFill>
            <a:srgbClr val="6A1A1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0" y="297180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🔐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6949440" y="347472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JWT &amp; OAuth 2.0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949440" y="39776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C0D6"/>
                </a:solidFill>
              </a:rPr>
              <a:t>Sécurité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8C0D6"/>
                </a:solidFill>
              </a:rPr>
              <a:t>WeatherApp — EMSI 2025/2026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9D4"/>
          </a:solidFill>
          <a:ln w="12700">
            <a:solidFill>
              <a:srgbClr val="00C9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Défis, Solutions &amp; Perspectives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9D4"/>
                </a:solidFill>
              </a:rPr>
              <a:t>⚠  Défis Rencontrés &amp; Solutions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2286000" cy="594360"/>
          </a:xfrm>
          <a:prstGeom prst="rect">
            <a:avLst/>
          </a:prstGeom>
          <a:solidFill>
            <a:srgbClr val="3A1010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8080"/>
                </a:solidFill>
              </a:rPr>
              <a:t>❌ Précision des données API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788920" y="1371600"/>
            <a:ext cx="2377440" cy="594360"/>
          </a:xfrm>
          <a:prstGeom prst="rect">
            <a:avLst/>
          </a:prstGeom>
          <a:solidFill>
            <a:srgbClr val="0A3020"/>
          </a:solidFill>
          <a:ln w="12700">
            <a:solidFill>
              <a:srgbClr val="00C9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80360" y="14173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0FFB0"/>
                </a:solidFill>
              </a:rPr>
              <a:t>✅ Cache intelligent + sources multiples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2121408"/>
            <a:ext cx="2286000" cy="594360"/>
          </a:xfrm>
          <a:prstGeom prst="rect">
            <a:avLst/>
          </a:prstGeom>
          <a:solidFill>
            <a:srgbClr val="3A1010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67128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8080"/>
                </a:solidFill>
              </a:rPr>
              <a:t>❌ Perf. IA sur mobile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88920" y="2121408"/>
            <a:ext cx="2377440" cy="594360"/>
          </a:xfrm>
          <a:prstGeom prst="rect">
            <a:avLst/>
          </a:prstGeom>
          <a:solidFill>
            <a:srgbClr val="0A3020"/>
          </a:solidFill>
          <a:ln w="12700">
            <a:solidFill>
              <a:srgbClr val="00C9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80360" y="216712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0FFB0"/>
                </a:solidFill>
              </a:rPr>
              <a:t>✅ Modèles légers + traitement côté serveur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2871216"/>
            <a:ext cx="2286000" cy="594360"/>
          </a:xfrm>
          <a:prstGeom prst="rect">
            <a:avLst/>
          </a:prstGeom>
          <a:solidFill>
            <a:srgbClr val="3A1010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916936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8080"/>
                </a:solidFill>
              </a:rPr>
              <a:t>❌ UX carte hors-ligne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88920" y="2871216"/>
            <a:ext cx="2377440" cy="594360"/>
          </a:xfrm>
          <a:prstGeom prst="rect">
            <a:avLst/>
          </a:prstGeom>
          <a:solidFill>
            <a:srgbClr val="0A3020"/>
          </a:solidFill>
          <a:ln w="12700">
            <a:solidFill>
              <a:srgbClr val="00C9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80360" y="2916936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0FFB0"/>
                </a:solidFill>
              </a:rPr>
              <a:t>✅ Tuiles pré-chargées avec LibreMap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3621024"/>
            <a:ext cx="2286000" cy="594360"/>
          </a:xfrm>
          <a:prstGeom prst="rect">
            <a:avLst/>
          </a:prstGeom>
          <a:solidFill>
            <a:srgbClr val="3A1010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666744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8080"/>
                </a:solidFill>
              </a:rPr>
              <a:t>❌ Précision recommandations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88920" y="3621024"/>
            <a:ext cx="2377440" cy="594360"/>
          </a:xfrm>
          <a:prstGeom prst="rect">
            <a:avLst/>
          </a:prstGeom>
          <a:solidFill>
            <a:srgbClr val="0A3020"/>
          </a:solidFill>
          <a:ln w="12700">
            <a:solidFill>
              <a:srgbClr val="00C9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80360" y="3666744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0FFB0"/>
                </a:solidFill>
              </a:rPr>
              <a:t>✅ Ajustement via feedback utilisateur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486400" y="9144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9D4"/>
                </a:solidFill>
              </a:rPr>
              <a:t>🚀  Perspectives d'Évolution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0" y="1371600"/>
            <a:ext cx="3474720" cy="566928"/>
          </a:xfrm>
          <a:prstGeom prst="rect">
            <a:avLst/>
          </a:prstGeom>
          <a:solidFill>
            <a:srgbClr val="112236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0" y="1371600"/>
            <a:ext cx="54864" cy="566928"/>
          </a:xfrm>
          <a:prstGeom prst="rect">
            <a:avLst/>
          </a:prstGeom>
          <a:solidFill>
            <a:srgbClr val="00C9D4"/>
          </a:solidFill>
          <a:ln w="12700">
            <a:solidFill>
              <a:srgbClr val="00C9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50992" y="1417320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🌍 Extension internationale (100+ langues)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0" y="2057400"/>
            <a:ext cx="3474720" cy="566928"/>
          </a:xfrm>
          <a:prstGeom prst="rect">
            <a:avLst/>
          </a:prstGeom>
          <a:solidFill>
            <a:srgbClr val="112236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0" y="2057400"/>
            <a:ext cx="54864" cy="566928"/>
          </a:xfrm>
          <a:prstGeom prst="rect">
            <a:avLst/>
          </a:prstGeom>
          <a:solidFill>
            <a:srgbClr val="00C9D4"/>
          </a:solidFill>
          <a:ln w="12700">
            <a:solidFill>
              <a:srgbClr val="00C9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50992" y="2103120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⌚ App WearOS / Apple Watch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0" y="2743200"/>
            <a:ext cx="3474720" cy="566928"/>
          </a:xfrm>
          <a:prstGeom prst="rect">
            <a:avLst/>
          </a:prstGeom>
          <a:solidFill>
            <a:srgbClr val="112236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0" y="2743200"/>
            <a:ext cx="54864" cy="566928"/>
          </a:xfrm>
          <a:prstGeom prst="rect">
            <a:avLst/>
          </a:prstGeom>
          <a:solidFill>
            <a:srgbClr val="00C9D4"/>
          </a:solidFill>
          <a:ln w="12700">
            <a:solidFill>
              <a:srgbClr val="00C9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50992" y="2788920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🛫 Intégration planification voyages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0" y="3429000"/>
            <a:ext cx="3474720" cy="566928"/>
          </a:xfrm>
          <a:prstGeom prst="rect">
            <a:avLst/>
          </a:prstGeom>
          <a:solidFill>
            <a:srgbClr val="112236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0" y="3429000"/>
            <a:ext cx="54864" cy="566928"/>
          </a:xfrm>
          <a:prstGeom prst="rect">
            <a:avLst/>
          </a:prstGeom>
          <a:solidFill>
            <a:srgbClr val="00C9D4"/>
          </a:solidFill>
          <a:ln w="12700">
            <a:solidFill>
              <a:srgbClr val="00C9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50992" y="3474720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🤝 Partage social des prévisions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0" y="4114800"/>
            <a:ext cx="3474720" cy="566928"/>
          </a:xfrm>
          <a:prstGeom prst="rect">
            <a:avLst/>
          </a:prstGeom>
          <a:solidFill>
            <a:srgbClr val="112236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86400" y="4114800"/>
            <a:ext cx="54864" cy="566928"/>
          </a:xfrm>
          <a:prstGeom prst="rect">
            <a:avLst/>
          </a:prstGeom>
          <a:solidFill>
            <a:srgbClr val="00C9D4"/>
          </a:solidFill>
          <a:ln w="12700">
            <a:solidFill>
              <a:srgbClr val="00C9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50992" y="4160520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📊 Tableau de bord analytique météo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8C0D6"/>
                </a:solidFill>
              </a:rPr>
              <a:t>WeatherApp — EMSI 2025/2026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9D4"/>
          </a:solidFill>
          <a:ln w="12700">
            <a:solidFill>
              <a:srgbClr val="00C9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Conclusion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914400"/>
          </a:xfrm>
          <a:prstGeom prst="rect">
            <a:avLst/>
          </a:prstGeom>
          <a:solidFill>
            <a:srgbClr val="112236"/>
          </a:solidFill>
          <a:ln w="12700">
            <a:solidFill>
              <a:srgbClr val="00C9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68680"/>
            <a:ext cx="54864" cy="914400"/>
          </a:xfrm>
          <a:prstGeom prst="rect">
            <a:avLst/>
          </a:prstGeom>
          <a:solidFill>
            <a:srgbClr val="00C9D4"/>
          </a:solidFill>
          <a:ln w="12700">
            <a:solidFill>
              <a:srgbClr val="00C9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923544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✅  Objectifs Atteints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271016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C0D6"/>
                </a:solidFill>
              </a:rPr>
              <a:t>Météo temps réel, carte interactive, chatbot IA, conseils vestimentaires et culinaires.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8412480" cy="914400"/>
          </a:xfrm>
          <a:prstGeom prst="rect">
            <a:avLst/>
          </a:prstGeom>
          <a:solidFill>
            <a:srgbClr val="112236"/>
          </a:solidFill>
          <a:ln w="12700">
            <a:solidFill>
              <a:srgbClr val="00C9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920240"/>
            <a:ext cx="54864" cy="914400"/>
          </a:xfrm>
          <a:prstGeom prst="rect">
            <a:avLst/>
          </a:prstGeom>
          <a:solidFill>
            <a:srgbClr val="00C9D4"/>
          </a:solidFill>
          <a:ln w="12700">
            <a:solidFill>
              <a:srgbClr val="00C9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975104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🤖  Valeur Ajoutée IA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2322576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C0D6"/>
                </a:solidFill>
              </a:rPr>
              <a:t>Une expérience météo intelligente, personnalisée et contextuelle unique sur le marché.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2971800"/>
            <a:ext cx="8412480" cy="914400"/>
          </a:xfrm>
          <a:prstGeom prst="rect">
            <a:avLst/>
          </a:prstGeom>
          <a:solidFill>
            <a:srgbClr val="112236"/>
          </a:solidFill>
          <a:ln w="12700">
            <a:solidFill>
              <a:srgbClr val="00C9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971800"/>
            <a:ext cx="54864" cy="914400"/>
          </a:xfrm>
          <a:prstGeom prst="rect">
            <a:avLst/>
          </a:prstGeom>
          <a:solidFill>
            <a:srgbClr val="00C9D4"/>
          </a:solidFill>
          <a:ln w="12700">
            <a:solidFill>
              <a:srgbClr val="00C9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026664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🚀  Potentiel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" y="3374136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C0D6"/>
                </a:solidFill>
              </a:rPr>
              <a:t>Architecture scalable prête pour évolutions futures et déploiement commercial.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14400" y="400507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C9D4"/>
                </a:solidFill>
              </a:rPr>
              <a:t>Merci pour votre attention !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14400" y="4443984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A8C0D6"/>
                </a:solidFill>
              </a:rPr>
              <a:t>Questions &amp; Discussion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C9D4"/>
          </a:solidFill>
          <a:ln w="12700">
            <a:solidFill>
              <a:srgbClr val="00C9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Bouchemakhete Marouane — EMSI 2025/2026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903</Words>
  <Application>Microsoft Office PowerPoint</Application>
  <PresentationFormat>On-screen Show (16:9)</PresentationFormat>
  <Paragraphs>222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Marouane Bouchemakhete</cp:lastModifiedBy>
  <cp:revision>4</cp:revision>
  <dcterms:created xsi:type="dcterms:W3CDTF">2026-05-21T23:52:39Z</dcterms:created>
  <dcterms:modified xsi:type="dcterms:W3CDTF">2026-05-22T01:05:01Z</dcterms:modified>
</cp:coreProperties>
</file>